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3-minute spill.
(1) Who I am. Hamidreza Validi, Assistant Professor in Industrial, Manufacturing and Systems Engineering. My field is optimization: the math behind decisions like how an airline schedules crews or how a hospital staffs shifts.
(2) The problem. I teach IE 3311. The central algorithm is the simplex method. Students can execute it correctly on an exam and still not know what it is doing. It feels like bookkeeping: shuffle numbers in a table until you stop. What is actually happening is geometric, a walk across the corners of a shape toward the best one, and they never see the shape.
(3) What I am building. Point at the slide. The student starts by asking for the kind of problem they want to see: two variables, five constraints, make it degenerate. Our code generates a problem with that property and the solver confirms the property actually holds. Then they get this split screen. Tableau on the left, the geometry on the right, and the two stay synchronized.
(4) The two things that make it work. First, before each pivot the student has to commit to a prediction: which variable enters, which corner do we move to. They guess, then it reveals. That is where the learning happens, not in watching. Second, the ordering: our code produces the step, the solver certifies every number, and only then is the AI tutor allowed to explain it. The AI never sits upstream of a number. It narrates, it does not compute. That matters because AI is genuinely good at explaining and genuinely unreliable at multi-step arithmetic.
(5) Where I am and what worries me. Building the module this summer, piloting with 45 students this fall. I am measuring conceptual understanding separately from procedural skill, which is the SoTL question. Biggest challenge is that I have one section and no control group, so I am using a within-subject design plus prior cohorts.
Happy to talk with anyone thinking about AI tutoring in a quantitative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37744"/>
            <a:ext cx="8229600" cy="182880"/>
          </a:xfrm>
          <a:prstGeom prst="rect">
            <a:avLst/>
          </a:prstGeom>
          <a:noFill/>
          <a:ln/>
        </p:spPr>
        <p:txBody>
          <a:bodyPr wrap="square" lIns="0" tIns="0" rIns="0" bIns="0" rtlCol="0" anchor="ctr"/>
          <a:lstStyle/>
          <a:p>
            <a:pPr indent="0" marL="0">
              <a:buNone/>
            </a:pPr>
            <a:r>
              <a:rPr lang="en-US" sz="950" spc="100" kern="0" dirty="0">
                <a:solidFill>
                  <a:srgbClr val="6E6E6E"/>
                </a:solidFill>
                <a:latin typeface="Calibri" pitchFamily="34" charset="0"/>
                <a:ea typeface="Calibri" pitchFamily="34" charset="-122"/>
                <a:cs typeface="Calibri" pitchFamily="34" charset="-120"/>
              </a:rPr>
              <a:t>HAMIDREZA VALIDI   ·   INDUSTRIAL, MANUFACTURING &amp; SYSTEMS ENGINEERING   ·   OPERATIONS RESEARCH</a:t>
            </a:r>
            <a:endParaRPr lang="en-US" sz="950" dirty="0"/>
          </a:p>
        </p:txBody>
      </p:sp>
      <p:sp>
        <p:nvSpPr>
          <p:cNvPr id="3" name="Text 1"/>
          <p:cNvSpPr/>
          <p:nvPr/>
        </p:nvSpPr>
        <p:spPr>
          <a:xfrm>
            <a:off x="457200" y="411480"/>
            <a:ext cx="5852160" cy="402336"/>
          </a:xfrm>
          <a:prstGeom prst="rect">
            <a:avLst/>
          </a:prstGeom>
          <a:noFill/>
          <a:ln/>
        </p:spPr>
        <p:txBody>
          <a:bodyPr wrap="square" lIns="0" tIns="0" rIns="0" bIns="0" rtlCol="0" anchor="ctr"/>
          <a:lstStyle/>
          <a:p>
            <a:pPr indent="0" marL="0">
              <a:buNone/>
            </a:pPr>
            <a:r>
              <a:rPr lang="en-US" sz="2700" b="1" dirty="0">
                <a:solidFill>
                  <a:srgbClr val="2E2E2E"/>
                </a:solidFill>
                <a:latin typeface="Cambria" pitchFamily="34" charset="0"/>
                <a:ea typeface="Cambria" pitchFamily="34" charset="-122"/>
                <a:cs typeface="Cambria" pitchFamily="34" charset="-120"/>
              </a:rPr>
              <a:t>Optimization in Plain Sight</a:t>
            </a:r>
            <a:endParaRPr lang="en-US" sz="2700" dirty="0"/>
          </a:p>
        </p:txBody>
      </p:sp>
      <p:sp>
        <p:nvSpPr>
          <p:cNvPr id="4" name="Text 2"/>
          <p:cNvSpPr/>
          <p:nvPr/>
        </p:nvSpPr>
        <p:spPr>
          <a:xfrm>
            <a:off x="457200" y="822960"/>
            <a:ext cx="8229600" cy="219456"/>
          </a:xfrm>
          <a:prstGeom prst="rect">
            <a:avLst/>
          </a:prstGeom>
          <a:noFill/>
          <a:ln/>
        </p:spPr>
        <p:txBody>
          <a:bodyPr wrap="square" lIns="0" tIns="0" rIns="0" bIns="0" rtlCol="0" anchor="ctr"/>
          <a:lstStyle/>
          <a:p>
            <a:pPr indent="0" marL="0">
              <a:buNone/>
            </a:pPr>
            <a:r>
              <a:rPr lang="en-US" sz="1300" i="1" dirty="0">
                <a:solidFill>
                  <a:srgbClr val="CC0000"/>
                </a:solidFill>
                <a:latin typeface="Cambria" pitchFamily="34" charset="0"/>
                <a:ea typeface="Cambria" pitchFamily="34" charset="-122"/>
                <a:cs typeface="Cambria" pitchFamily="34" charset="-120"/>
              </a:rPr>
              <a:t>Students can compute the simplex method. Most cannot see what it is doing.</a:t>
            </a:r>
            <a:endParaRPr lang="en-US" sz="1300" dirty="0"/>
          </a:p>
        </p:txBody>
      </p:sp>
      <p:sp>
        <p:nvSpPr>
          <p:cNvPr id="5" name="Shape 3"/>
          <p:cNvSpPr/>
          <p:nvPr/>
        </p:nvSpPr>
        <p:spPr>
          <a:xfrm>
            <a:off x="457200" y="1152144"/>
            <a:ext cx="8229600" cy="2688336"/>
          </a:xfrm>
          <a:prstGeom prst="roundRect">
            <a:avLst>
              <a:gd name="adj" fmla="val 1701"/>
            </a:avLst>
          </a:prstGeom>
          <a:solidFill>
            <a:srgbClr val="FFFFFF"/>
          </a:solidFill>
          <a:ln w="12700">
            <a:solidFill>
              <a:srgbClr val="D5D5D5"/>
            </a:solidFill>
            <a:prstDash val="solid"/>
          </a:ln>
        </p:spPr>
      </p:sp>
      <p:sp>
        <p:nvSpPr>
          <p:cNvPr id="6" name="Text 4"/>
          <p:cNvSpPr/>
          <p:nvPr/>
        </p:nvSpPr>
        <p:spPr>
          <a:xfrm>
            <a:off x="621792" y="1271016"/>
            <a:ext cx="1691640" cy="219456"/>
          </a:xfrm>
          <a:prstGeom prst="rect">
            <a:avLst/>
          </a:prstGeom>
          <a:noFill/>
          <a:ln/>
        </p:spPr>
        <p:txBody>
          <a:bodyPr wrap="square" lIns="0" tIns="0" rIns="0" bIns="0" rtlCol="0" anchor="ctr"/>
          <a:lstStyle/>
          <a:p>
            <a:pPr indent="0" marL="0">
              <a:buNone/>
            </a:pPr>
            <a:r>
              <a:rPr lang="en-US" sz="950" b="1" dirty="0">
                <a:solidFill>
                  <a:srgbClr val="2E2E2E"/>
                </a:solidFill>
                <a:latin typeface="Calibri" pitchFamily="34" charset="0"/>
                <a:ea typeface="Calibri" pitchFamily="34" charset="-122"/>
                <a:cs typeface="Calibri" pitchFamily="34" charset="-120"/>
              </a:rPr>
              <a:t>Show me a problem that is:</a:t>
            </a:r>
            <a:endParaRPr lang="en-US" sz="950" dirty="0"/>
          </a:p>
        </p:txBody>
      </p:sp>
      <p:sp>
        <p:nvSpPr>
          <p:cNvPr id="7" name="Shape 5"/>
          <p:cNvSpPr/>
          <p:nvPr/>
        </p:nvSpPr>
        <p:spPr>
          <a:xfrm>
            <a:off x="2359152" y="1271016"/>
            <a:ext cx="1097280" cy="219456"/>
          </a:xfrm>
          <a:prstGeom prst="roundRect">
            <a:avLst>
              <a:gd name="adj" fmla="val 20833"/>
            </a:avLst>
          </a:prstGeom>
          <a:solidFill>
            <a:srgbClr val="F4F4F4"/>
          </a:solidFill>
          <a:ln w="9525">
            <a:solidFill>
              <a:srgbClr val="D5D5D5"/>
            </a:solidFill>
            <a:prstDash val="solid"/>
          </a:ln>
        </p:spPr>
      </p:sp>
      <p:sp>
        <p:nvSpPr>
          <p:cNvPr id="8" name="Text 6"/>
          <p:cNvSpPr/>
          <p:nvPr/>
        </p:nvSpPr>
        <p:spPr>
          <a:xfrm>
            <a:off x="2359152" y="1271016"/>
            <a:ext cx="1097280" cy="219456"/>
          </a:xfrm>
          <a:prstGeom prst="rect">
            <a:avLst/>
          </a:prstGeom>
          <a:noFill/>
          <a:ln/>
        </p:spPr>
        <p:txBody>
          <a:bodyPr wrap="square" lIns="0" tIns="0" rIns="0" bIns="0" rtlCol="0" anchor="ctr"/>
          <a:lstStyle/>
          <a:p>
            <a:pPr algn="ctr" indent="0" marL="0">
              <a:buNone/>
            </a:pPr>
            <a:r>
              <a:rPr lang="en-US" sz="850" dirty="0">
                <a:solidFill>
                  <a:srgbClr val="2E2E2E"/>
                </a:solidFill>
                <a:latin typeface="Calibri" pitchFamily="34" charset="0"/>
                <a:ea typeface="Calibri" pitchFamily="34" charset="-122"/>
                <a:cs typeface="Calibri" pitchFamily="34" charset="-120"/>
              </a:rPr>
              <a:t>2 variables</a:t>
            </a:r>
            <a:endParaRPr lang="en-US" sz="850" dirty="0"/>
          </a:p>
        </p:txBody>
      </p:sp>
      <p:sp>
        <p:nvSpPr>
          <p:cNvPr id="9" name="Shape 7"/>
          <p:cNvSpPr/>
          <p:nvPr/>
        </p:nvSpPr>
        <p:spPr>
          <a:xfrm>
            <a:off x="3547872" y="1271016"/>
            <a:ext cx="1097280" cy="219456"/>
          </a:xfrm>
          <a:prstGeom prst="roundRect">
            <a:avLst>
              <a:gd name="adj" fmla="val 20833"/>
            </a:avLst>
          </a:prstGeom>
          <a:solidFill>
            <a:srgbClr val="F4F4F4"/>
          </a:solidFill>
          <a:ln w="9525">
            <a:solidFill>
              <a:srgbClr val="D5D5D5"/>
            </a:solidFill>
            <a:prstDash val="solid"/>
          </a:ln>
        </p:spPr>
      </p:sp>
      <p:sp>
        <p:nvSpPr>
          <p:cNvPr id="10" name="Text 8"/>
          <p:cNvSpPr/>
          <p:nvPr/>
        </p:nvSpPr>
        <p:spPr>
          <a:xfrm>
            <a:off x="3547872" y="1271016"/>
            <a:ext cx="1097280" cy="219456"/>
          </a:xfrm>
          <a:prstGeom prst="rect">
            <a:avLst/>
          </a:prstGeom>
          <a:noFill/>
          <a:ln/>
        </p:spPr>
        <p:txBody>
          <a:bodyPr wrap="square" lIns="0" tIns="0" rIns="0" bIns="0" rtlCol="0" anchor="ctr"/>
          <a:lstStyle/>
          <a:p>
            <a:pPr algn="ctr" indent="0" marL="0">
              <a:buNone/>
            </a:pPr>
            <a:r>
              <a:rPr lang="en-US" sz="850" dirty="0">
                <a:solidFill>
                  <a:srgbClr val="2E2E2E"/>
                </a:solidFill>
                <a:latin typeface="Calibri" pitchFamily="34" charset="0"/>
                <a:ea typeface="Calibri" pitchFamily="34" charset="-122"/>
                <a:cs typeface="Calibri" pitchFamily="34" charset="-120"/>
              </a:rPr>
              <a:t>5 constraints</a:t>
            </a:r>
            <a:endParaRPr lang="en-US" sz="850" dirty="0"/>
          </a:p>
        </p:txBody>
      </p:sp>
      <p:sp>
        <p:nvSpPr>
          <p:cNvPr id="11" name="Shape 9"/>
          <p:cNvSpPr/>
          <p:nvPr/>
        </p:nvSpPr>
        <p:spPr>
          <a:xfrm>
            <a:off x="4736592" y="1271016"/>
            <a:ext cx="1097280" cy="219456"/>
          </a:xfrm>
          <a:prstGeom prst="roundRect">
            <a:avLst>
              <a:gd name="adj" fmla="val 20833"/>
            </a:avLst>
          </a:prstGeom>
          <a:solidFill>
            <a:srgbClr val="F4F4F4"/>
          </a:solidFill>
          <a:ln w="9525">
            <a:solidFill>
              <a:srgbClr val="D5D5D5"/>
            </a:solidFill>
            <a:prstDash val="solid"/>
          </a:ln>
        </p:spPr>
      </p:sp>
      <p:sp>
        <p:nvSpPr>
          <p:cNvPr id="12" name="Text 10"/>
          <p:cNvSpPr/>
          <p:nvPr/>
        </p:nvSpPr>
        <p:spPr>
          <a:xfrm>
            <a:off x="4736592" y="1271016"/>
            <a:ext cx="1097280" cy="219456"/>
          </a:xfrm>
          <a:prstGeom prst="rect">
            <a:avLst/>
          </a:prstGeom>
          <a:noFill/>
          <a:ln/>
        </p:spPr>
        <p:txBody>
          <a:bodyPr wrap="square" lIns="0" tIns="0" rIns="0" bIns="0" rtlCol="0" anchor="ctr"/>
          <a:lstStyle/>
          <a:p>
            <a:pPr algn="ctr" indent="0" marL="0">
              <a:buNone/>
            </a:pPr>
            <a:r>
              <a:rPr lang="en-US" sz="850" dirty="0">
                <a:solidFill>
                  <a:srgbClr val="2E2E2E"/>
                </a:solidFill>
                <a:latin typeface="Calibri" pitchFamily="34" charset="0"/>
                <a:ea typeface="Calibri" pitchFamily="34" charset="-122"/>
                <a:cs typeface="Calibri" pitchFamily="34" charset="-120"/>
              </a:rPr>
              <a:t>degenerate</a:t>
            </a:r>
            <a:endParaRPr lang="en-US" sz="850" dirty="0"/>
          </a:p>
        </p:txBody>
      </p:sp>
      <p:sp>
        <p:nvSpPr>
          <p:cNvPr id="13" name="Shape 11"/>
          <p:cNvSpPr/>
          <p:nvPr/>
        </p:nvSpPr>
        <p:spPr>
          <a:xfrm>
            <a:off x="5989320" y="1271016"/>
            <a:ext cx="841248" cy="219456"/>
          </a:xfrm>
          <a:prstGeom prst="roundRect">
            <a:avLst>
              <a:gd name="adj" fmla="val 20833"/>
            </a:avLst>
          </a:prstGeom>
          <a:solidFill>
            <a:srgbClr val="CC0000"/>
          </a:solidFill>
          <a:ln w="9525">
            <a:solidFill>
              <a:srgbClr val="CC0000"/>
            </a:solidFill>
            <a:prstDash val="solid"/>
          </a:ln>
        </p:spPr>
      </p:sp>
      <p:sp>
        <p:nvSpPr>
          <p:cNvPr id="14" name="Text 12"/>
          <p:cNvSpPr/>
          <p:nvPr/>
        </p:nvSpPr>
        <p:spPr>
          <a:xfrm>
            <a:off x="5989320" y="1271016"/>
            <a:ext cx="841248"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Build it</a:t>
            </a:r>
            <a:endParaRPr lang="en-US" sz="850" dirty="0"/>
          </a:p>
        </p:txBody>
      </p:sp>
      <p:sp>
        <p:nvSpPr>
          <p:cNvPr id="15" name="Text 13"/>
          <p:cNvSpPr/>
          <p:nvPr/>
        </p:nvSpPr>
        <p:spPr>
          <a:xfrm>
            <a:off x="6903720" y="1271016"/>
            <a:ext cx="1673352" cy="219456"/>
          </a:xfrm>
          <a:prstGeom prst="rect">
            <a:avLst/>
          </a:prstGeom>
          <a:noFill/>
          <a:ln/>
        </p:spPr>
        <p:txBody>
          <a:bodyPr wrap="square" lIns="0" tIns="0" rIns="0" bIns="0" rtlCol="0" anchor="ctr"/>
          <a:lstStyle/>
          <a:p>
            <a:pPr indent="0" marL="0">
              <a:buNone/>
            </a:pPr>
            <a:r>
              <a:rPr lang="en-US" sz="750" i="1" dirty="0">
                <a:solidFill>
                  <a:srgbClr val="9A9A9A"/>
                </a:solidFill>
                <a:latin typeface="Calibri" pitchFamily="34" charset="0"/>
                <a:ea typeface="Calibri" pitchFamily="34" charset="-122"/>
                <a:cs typeface="Calibri" pitchFamily="34" charset="-120"/>
              </a:rPr>
              <a:t>code generates, solver certifies</a:t>
            </a:r>
            <a:endParaRPr lang="en-US" sz="750" dirty="0"/>
          </a:p>
        </p:txBody>
      </p:sp>
      <p:sp>
        <p:nvSpPr>
          <p:cNvPr id="16" name="Shape 14"/>
          <p:cNvSpPr/>
          <p:nvPr/>
        </p:nvSpPr>
        <p:spPr>
          <a:xfrm>
            <a:off x="566928" y="1581912"/>
            <a:ext cx="8010144" cy="0"/>
          </a:xfrm>
          <a:prstGeom prst="line">
            <a:avLst/>
          </a:prstGeom>
          <a:noFill/>
          <a:ln w="12700">
            <a:solidFill>
              <a:srgbClr val="EAEAEA"/>
            </a:solidFill>
            <a:prstDash val="solid"/>
          </a:ln>
        </p:spPr>
      </p:sp>
      <p:sp>
        <p:nvSpPr>
          <p:cNvPr id="17" name="Text 15"/>
          <p:cNvSpPr/>
          <p:nvPr/>
        </p:nvSpPr>
        <p:spPr>
          <a:xfrm>
            <a:off x="621792" y="1645920"/>
            <a:ext cx="2743200" cy="182880"/>
          </a:xfrm>
          <a:prstGeom prst="rect">
            <a:avLst/>
          </a:prstGeom>
          <a:noFill/>
          <a:ln/>
        </p:spPr>
        <p:txBody>
          <a:bodyPr wrap="square" lIns="0" tIns="0" rIns="0" bIns="0" rtlCol="0" anchor="ctr"/>
          <a:lstStyle/>
          <a:p>
            <a:pPr indent="0" marL="0">
              <a:buNone/>
            </a:pPr>
            <a:r>
              <a:rPr lang="en-US" sz="950" b="1" dirty="0">
                <a:solidFill>
                  <a:srgbClr val="6E6E6E"/>
                </a:solidFill>
                <a:latin typeface="Calibri" pitchFamily="34" charset="0"/>
                <a:ea typeface="Calibri" pitchFamily="34" charset="-122"/>
                <a:cs typeface="Calibri" pitchFamily="34" charset="-120"/>
              </a:rPr>
              <a:t>What the math says</a:t>
            </a:r>
            <a:endParaRPr lang="en-US" sz="9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58368" y="1865376"/>
          <a:ext cx="2889504" cy="914400"/>
        </p:xfrm>
        <a:graphic>
          <a:graphicData uri="http://schemas.openxmlformats.org/drawingml/2006/table">
            <a:tbl>
              <a:tblPr/>
              <a:tblGrid>
                <a:gridCol w="420624"/>
                <a:gridCol w="475488"/>
                <a:gridCol w="475488"/>
                <a:gridCol w="475488"/>
                <a:gridCol w="475488"/>
                <a:gridCol w="566928"/>
              </a:tblGrid>
              <a:tr h="155448">
                <a:tc>
                  <a:txBody>
                    <a:bodyPr/>
                    <a:lstStyle/>
                    <a:p>
                      <a:pPr algn="ctr" indent="0" marL="0">
                        <a:buNone/>
                      </a:pP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b="1" dirty="0">
                          <a:solidFill>
                            <a:srgbClr val="6E6E6E"/>
                          </a:solidFill>
                          <a:latin typeface="Calibri" pitchFamily="34" charset="0"/>
                          <a:ea typeface="Calibri" pitchFamily="34" charset="-122"/>
                          <a:cs typeface="Calibri" pitchFamily="34" charset="-120"/>
                        </a:rPr>
                        <a:t>x1</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b="1" dirty="0">
                          <a:solidFill>
                            <a:srgbClr val="6E6E6E"/>
                          </a:solidFill>
                          <a:latin typeface="Calibri" pitchFamily="34" charset="0"/>
                          <a:ea typeface="Calibri" pitchFamily="34" charset="-122"/>
                          <a:cs typeface="Calibri" pitchFamily="34" charset="-120"/>
                        </a:rPr>
                        <a:t>x2</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FBE9E9"/>
                    </a:solidFill>
                  </a:tcPr>
                </a:tc>
                <a:tc>
                  <a:txBody>
                    <a:bodyPr/>
                    <a:lstStyle/>
                    <a:p>
                      <a:pPr algn="ctr" indent="0" marL="0">
                        <a:buNone/>
                      </a:pPr>
                      <a:r>
                        <a:rPr lang="en-US" sz="850" b="1" dirty="0">
                          <a:solidFill>
                            <a:srgbClr val="6E6E6E"/>
                          </a:solidFill>
                          <a:latin typeface="Calibri" pitchFamily="34" charset="0"/>
                          <a:ea typeface="Calibri" pitchFamily="34" charset="-122"/>
                          <a:cs typeface="Calibri" pitchFamily="34" charset="-120"/>
                        </a:rPr>
                        <a:t>s1</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b="1" dirty="0">
                          <a:solidFill>
                            <a:srgbClr val="6E6E6E"/>
                          </a:solidFill>
                          <a:latin typeface="Calibri" pitchFamily="34" charset="0"/>
                          <a:ea typeface="Calibri" pitchFamily="34" charset="-122"/>
                          <a:cs typeface="Calibri" pitchFamily="34" charset="-120"/>
                        </a:rPr>
                        <a:t>s2</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b="1" dirty="0">
                          <a:solidFill>
                            <a:srgbClr val="6E6E6E"/>
                          </a:solidFill>
                          <a:latin typeface="Calibri" pitchFamily="34" charset="0"/>
                          <a:ea typeface="Calibri" pitchFamily="34" charset="-122"/>
                          <a:cs typeface="Calibri" pitchFamily="34" charset="-120"/>
                        </a:rPr>
                        <a:t>rhs</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r>
              <a:tr h="155448">
                <a:tc>
                  <a:txBody>
                    <a:bodyPr/>
                    <a:lstStyle/>
                    <a:p>
                      <a:pPr algn="ctr" indent="0" marL="0">
                        <a:buNone/>
                      </a:pPr>
                      <a:r>
                        <a:rPr lang="en-US" sz="850" b="1" dirty="0">
                          <a:solidFill>
                            <a:srgbClr val="6E6E6E"/>
                          </a:solidFill>
                          <a:latin typeface="Calibri" pitchFamily="34" charset="0"/>
                          <a:ea typeface="Calibri" pitchFamily="34" charset="-122"/>
                          <a:cs typeface="Calibri" pitchFamily="34" charset="-120"/>
                        </a:rPr>
                        <a:t>s1</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dirty="0">
                          <a:solidFill>
                            <a:srgbClr val="2E2E2E"/>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dirty="0">
                          <a:solidFill>
                            <a:srgbClr val="2E2E2E"/>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FBE9E9"/>
                    </a:solidFill>
                  </a:tcPr>
                </a:tc>
                <a:tc>
                  <a:txBody>
                    <a:bodyPr/>
                    <a:lstStyle/>
                    <a:p>
                      <a:pPr algn="ctr" indent="0" marL="0">
                        <a:buNone/>
                      </a:pPr>
                      <a:r>
                        <a:rPr lang="en-US" sz="850" dirty="0">
                          <a:solidFill>
                            <a:srgbClr val="2E2E2E"/>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dirty="0">
                          <a:solidFill>
                            <a:srgbClr val="2E2E2E"/>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dirty="0">
                          <a:solidFill>
                            <a:srgbClr val="2E2E2E"/>
                          </a:solidFill>
                          <a:latin typeface="Calibri" pitchFamily="34" charset="0"/>
                          <a:ea typeface="Calibri" pitchFamily="34" charset="-122"/>
                          <a:cs typeface="Calibri" pitchFamily="34" charset="-120"/>
                        </a:rPr>
                        <a:t>10</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r>
              <a:tr h="155448">
                <a:tc>
                  <a:txBody>
                    <a:bodyPr/>
                    <a:lstStyle/>
                    <a:p>
                      <a:pPr algn="ctr" indent="0" marL="0">
                        <a:buNone/>
                      </a:pPr>
                      <a:r>
                        <a:rPr lang="en-US" sz="850" b="1" dirty="0">
                          <a:solidFill>
                            <a:srgbClr val="6E6E6E"/>
                          </a:solidFill>
                          <a:latin typeface="Calibri" pitchFamily="34" charset="0"/>
                          <a:ea typeface="Calibri" pitchFamily="34" charset="-122"/>
                          <a:cs typeface="Calibri" pitchFamily="34" charset="-120"/>
                        </a:rPr>
                        <a:t>s2</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dirty="0">
                          <a:solidFill>
                            <a:srgbClr val="2E2E2E"/>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b="1" dirty="0">
                          <a:solidFill>
                            <a:srgbClr val="CC0000"/>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FBE9E9"/>
                    </a:solidFill>
                  </a:tcPr>
                </a:tc>
                <a:tc>
                  <a:txBody>
                    <a:bodyPr/>
                    <a:lstStyle/>
                    <a:p>
                      <a:pPr algn="ctr" indent="0" marL="0">
                        <a:buNone/>
                      </a:pPr>
                      <a:r>
                        <a:rPr lang="en-US" sz="850" dirty="0">
                          <a:solidFill>
                            <a:srgbClr val="2E2E2E"/>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dirty="0">
                          <a:solidFill>
                            <a:srgbClr val="2E2E2E"/>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dirty="0">
                          <a:solidFill>
                            <a:srgbClr val="2E2E2E"/>
                          </a:solidFill>
                          <a:latin typeface="Calibri" pitchFamily="34" charset="0"/>
                          <a:ea typeface="Calibri" pitchFamily="34" charset="-122"/>
                          <a:cs typeface="Calibri" pitchFamily="34" charset="-120"/>
                        </a:rPr>
                        <a:t>15</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r>
              <a:tr h="155448">
                <a:tc>
                  <a:txBody>
                    <a:bodyPr/>
                    <a:lstStyle/>
                    <a:p>
                      <a:pPr algn="ctr" indent="0" marL="0">
                        <a:buNone/>
                      </a:pPr>
                      <a:r>
                        <a:rPr lang="en-US" sz="850" b="1" dirty="0">
                          <a:solidFill>
                            <a:srgbClr val="6E6E6E"/>
                          </a:solidFill>
                          <a:latin typeface="Calibri" pitchFamily="34" charset="0"/>
                          <a:ea typeface="Calibri" pitchFamily="34" charset="-122"/>
                          <a:cs typeface="Calibri" pitchFamily="34" charset="-120"/>
                        </a:rPr>
                        <a:t>z</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dirty="0">
                          <a:solidFill>
                            <a:srgbClr val="2E2E2E"/>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dirty="0">
                          <a:solidFill>
                            <a:srgbClr val="2E2E2E"/>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solidFill>
                      <a:srgbClr val="FBE9E9"/>
                    </a:solidFill>
                  </a:tcPr>
                </a:tc>
                <a:tc>
                  <a:txBody>
                    <a:bodyPr/>
                    <a:lstStyle/>
                    <a:p>
                      <a:pPr algn="ctr" indent="0" marL="0">
                        <a:buNone/>
                      </a:pPr>
                      <a:r>
                        <a:rPr lang="en-US" sz="850" dirty="0">
                          <a:solidFill>
                            <a:srgbClr val="2E2E2E"/>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dirty="0">
                          <a:solidFill>
                            <a:srgbClr val="2E2E2E"/>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c>
                  <a:txBody>
                    <a:bodyPr/>
                    <a:lstStyle/>
                    <a:p>
                      <a:pPr algn="ctr" indent="0" marL="0">
                        <a:buNone/>
                      </a:pPr>
                      <a:r>
                        <a:rPr lang="en-US" sz="850" dirty="0">
                          <a:solidFill>
                            <a:srgbClr val="2E2E2E"/>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91440" marR="91440" marT="45720" marB="45720" anchor="ctr">
                    <a:lnL w="6350" cap="flat" cmpd="sng" algn="ctr">
                      <a:solidFill>
                        <a:srgbClr val="E4E4E4"/>
                      </a:solidFill>
                      <a:prstDash val="solid"/>
                      <a:round/>
                      <a:headEnd type="none" w="med" len="med"/>
                      <a:tailEnd type="none" w="med" len="med"/>
                    </a:lnL>
                    <a:lnR w="6350" cap="flat" cmpd="sng" algn="ctr">
                      <a:solidFill>
                        <a:srgbClr val="E4E4E4"/>
                      </a:solidFill>
                      <a:prstDash val="solid"/>
                      <a:round/>
                      <a:headEnd type="none" w="med" len="med"/>
                      <a:tailEnd type="none" w="med" len="med"/>
                    </a:lnR>
                    <a:lnT w="6350" cap="flat" cmpd="sng" algn="ctr">
                      <a:solidFill>
                        <a:srgbClr val="E4E4E4"/>
                      </a:solidFill>
                      <a:prstDash val="solid"/>
                      <a:round/>
                      <a:headEnd type="none" w="med" len="med"/>
                      <a:tailEnd type="none" w="med" len="med"/>
                    </a:lnT>
                    <a:lnB w="6350" cap="flat" cmpd="sng" algn="ctr">
                      <a:solidFill>
                        <a:srgbClr val="E4E4E4"/>
                      </a:solidFill>
                      <a:prstDash val="solid"/>
                      <a:round/>
                      <a:headEnd type="none" w="med" len="med"/>
                      <a:tailEnd type="none" w="med" len="med"/>
                    </a:lnB>
                  </a:tcPr>
                </a:tc>
              </a:tr>
            </a:tbl>
          </a:graphicData>
        </a:graphic>
      </p:graphicFrame>
      <p:sp>
        <p:nvSpPr>
          <p:cNvPr id="19" name="Text 16"/>
          <p:cNvSpPr/>
          <p:nvPr/>
        </p:nvSpPr>
        <p:spPr>
          <a:xfrm>
            <a:off x="658368" y="2816352"/>
            <a:ext cx="3200400" cy="182880"/>
          </a:xfrm>
          <a:prstGeom prst="rect">
            <a:avLst/>
          </a:prstGeom>
          <a:noFill/>
          <a:ln/>
        </p:spPr>
        <p:txBody>
          <a:bodyPr wrap="square" lIns="0" tIns="0" rIns="0" bIns="0" rtlCol="0" anchor="ctr"/>
          <a:lstStyle/>
          <a:p>
            <a:pPr indent="0" marL="0">
              <a:buNone/>
            </a:pPr>
            <a:r>
              <a:rPr lang="en-US" sz="800" b="1" dirty="0">
                <a:solidFill>
                  <a:srgbClr val="CC0000"/>
                </a:solidFill>
                <a:latin typeface="Calibri" pitchFamily="34" charset="0"/>
                <a:ea typeface="Calibri" pitchFamily="34" charset="-122"/>
                <a:cs typeface="Calibri" pitchFamily="34" charset="-120"/>
              </a:rPr>
              <a:t>x2 enters</a:t>
            </a:r>
            <a:pPr indent="0" marL="0">
              <a:buNone/>
            </a:pPr>
            <a:r>
              <a:rPr lang="en-US" sz="800" dirty="0">
                <a:solidFill>
                  <a:srgbClr val="6E6E6E"/>
                </a:solidFill>
                <a:latin typeface="Calibri" pitchFamily="34" charset="0"/>
                <a:ea typeface="Calibri" pitchFamily="34" charset="-122"/>
                <a:cs typeface="Calibri" pitchFamily="34" charset="-120"/>
              </a:rPr>
              <a:t> (most negative), </a:t>
            </a:r>
            <a:pPr indent="0" marL="0">
              <a:buNone/>
            </a:pPr>
            <a:r>
              <a:rPr lang="en-US" sz="800" b="1" dirty="0">
                <a:solidFill>
                  <a:srgbClr val="CC0000"/>
                </a:solidFill>
                <a:latin typeface="Calibri" pitchFamily="34" charset="0"/>
                <a:ea typeface="Calibri" pitchFamily="34" charset="-122"/>
                <a:cs typeface="Calibri" pitchFamily="34" charset="-120"/>
              </a:rPr>
              <a:t>s2 leaves</a:t>
            </a:r>
            <a:pPr indent="0" marL="0">
              <a:buNone/>
            </a:pPr>
            <a:r>
              <a:rPr lang="en-US" sz="800" dirty="0">
                <a:solidFill>
                  <a:srgbClr val="6E6E6E"/>
                </a:solidFill>
                <a:latin typeface="Calibri" pitchFamily="34" charset="0"/>
                <a:ea typeface="Calibri" pitchFamily="34" charset="-122"/>
                <a:cs typeface="Calibri" pitchFamily="34" charset="-120"/>
              </a:rPr>
              <a:t> (15 / 3 = 5 wins the ratio test)</a:t>
            </a:r>
            <a:endParaRPr lang="en-US" sz="800" dirty="0"/>
          </a:p>
        </p:txBody>
      </p:sp>
      <p:sp>
        <p:nvSpPr>
          <p:cNvPr id="20" name="Text 17"/>
          <p:cNvSpPr/>
          <p:nvPr/>
        </p:nvSpPr>
        <p:spPr>
          <a:xfrm>
            <a:off x="4526280" y="1645920"/>
            <a:ext cx="2743200" cy="182880"/>
          </a:xfrm>
          <a:prstGeom prst="rect">
            <a:avLst/>
          </a:prstGeom>
          <a:noFill/>
          <a:ln/>
        </p:spPr>
        <p:txBody>
          <a:bodyPr wrap="square" lIns="0" tIns="0" rIns="0" bIns="0" rtlCol="0" anchor="ctr"/>
          <a:lstStyle/>
          <a:p>
            <a:pPr indent="0" marL="0">
              <a:buNone/>
            </a:pPr>
            <a:r>
              <a:rPr lang="en-US" sz="950" b="1" dirty="0">
                <a:solidFill>
                  <a:srgbClr val="6E6E6E"/>
                </a:solidFill>
                <a:latin typeface="Calibri" pitchFamily="34" charset="0"/>
                <a:ea typeface="Calibri" pitchFamily="34" charset="-122"/>
                <a:cs typeface="Calibri" pitchFamily="34" charset="-120"/>
              </a:rPr>
              <a:t>What it means</a:t>
            </a:r>
            <a:endParaRPr lang="en-US" sz="950" dirty="0"/>
          </a:p>
        </p:txBody>
      </p:sp>
      <p:sp>
        <p:nvSpPr>
          <p:cNvPr id="21" name="Shape 18"/>
          <p:cNvSpPr/>
          <p:nvPr/>
        </p:nvSpPr>
        <p:spPr>
          <a:xfrm>
            <a:off x="4983480" y="1947672"/>
            <a:ext cx="0" cy="1069848"/>
          </a:xfrm>
          <a:prstGeom prst="line">
            <a:avLst/>
          </a:prstGeom>
          <a:noFill/>
          <a:ln w="12700">
            <a:solidFill>
              <a:srgbClr val="C4C4C4"/>
            </a:solidFill>
            <a:prstDash val="solid"/>
          </a:ln>
        </p:spPr>
      </p:sp>
      <p:sp>
        <p:nvSpPr>
          <p:cNvPr id="22" name="Shape 19"/>
          <p:cNvSpPr/>
          <p:nvPr/>
        </p:nvSpPr>
        <p:spPr>
          <a:xfrm>
            <a:off x="4983480" y="3017520"/>
            <a:ext cx="2103120" cy="0"/>
          </a:xfrm>
          <a:prstGeom prst="line">
            <a:avLst/>
          </a:prstGeom>
          <a:noFill/>
          <a:ln w="12700">
            <a:solidFill>
              <a:srgbClr val="C4C4C4"/>
            </a:solidFill>
            <a:prstDash val="solid"/>
          </a:ln>
        </p:spPr>
      </p:sp>
      <p:sp>
        <p:nvSpPr>
          <p:cNvPr id="23" name="Shape 20"/>
          <p:cNvSpPr/>
          <p:nvPr/>
        </p:nvSpPr>
        <p:spPr>
          <a:xfrm>
            <a:off x="5074920" y="2057400"/>
            <a:ext cx="1737360" cy="868680"/>
          </a:xfrm>
          <a:custGeom>
            <a:avLst/>
            <a:gdLst/>
            <a:ahLst/>
            <a:cxnLst/>
            <a:rect l="l" t="t" r="r" b="b"/>
            <a:pathLst>
              <a:path w="1737360" h="868680">
                <a:moveTo>
                  <a:pt x="0" y="868680"/>
                </a:moveTo>
                <a:lnTo>
                  <a:pt x="1737360" y="868680"/>
                </a:lnTo>
                <a:lnTo>
                  <a:pt x="1042416" y="173736"/>
                </a:lnTo>
                <a:lnTo>
                  <a:pt x="0" y="0"/>
                </a:lnTo>
                <a:close/>
              </a:path>
            </a:pathLst>
          </a:custGeom>
          <a:solidFill>
            <a:srgbClr val="CC0000">
              <a:alpha val="8000"/>
            </a:srgbClr>
          </a:solidFill>
          <a:ln w="12700">
            <a:solidFill>
              <a:srgbClr val="DCA9A9"/>
            </a:solidFill>
            <a:prstDash val="solid"/>
          </a:ln>
        </p:spPr>
      </p:sp>
      <p:sp>
        <p:nvSpPr>
          <p:cNvPr id="24" name="Text 21"/>
          <p:cNvSpPr/>
          <p:nvPr/>
        </p:nvSpPr>
        <p:spPr>
          <a:xfrm>
            <a:off x="5321808" y="2633472"/>
            <a:ext cx="914400" cy="146304"/>
          </a:xfrm>
          <a:prstGeom prst="rect">
            <a:avLst/>
          </a:prstGeom>
          <a:noFill/>
          <a:ln/>
        </p:spPr>
        <p:txBody>
          <a:bodyPr wrap="square" lIns="0" tIns="0" rIns="0" bIns="0" rtlCol="0" anchor="ctr"/>
          <a:lstStyle/>
          <a:p>
            <a:pPr indent="0" marL="0">
              <a:buNone/>
            </a:pPr>
            <a:r>
              <a:rPr lang="en-US" sz="750" i="1" dirty="0">
                <a:solidFill>
                  <a:srgbClr val="9A9A9A"/>
                </a:solidFill>
                <a:latin typeface="Calibri" pitchFamily="34" charset="0"/>
                <a:ea typeface="Calibri" pitchFamily="34" charset="-122"/>
                <a:cs typeface="Calibri" pitchFamily="34" charset="-120"/>
              </a:rPr>
              <a:t>feasible plans</a:t>
            </a:r>
            <a:endParaRPr lang="en-US" sz="750" dirty="0"/>
          </a:p>
        </p:txBody>
      </p:sp>
      <p:sp>
        <p:nvSpPr>
          <p:cNvPr id="25" name="Shape 22"/>
          <p:cNvSpPr/>
          <p:nvPr/>
        </p:nvSpPr>
        <p:spPr>
          <a:xfrm>
            <a:off x="5202936" y="2926080"/>
            <a:ext cx="1472184" cy="0"/>
          </a:xfrm>
          <a:prstGeom prst="line">
            <a:avLst/>
          </a:prstGeom>
          <a:noFill/>
          <a:ln w="19050">
            <a:solidFill>
              <a:srgbClr val="8C8C8C"/>
            </a:solidFill>
            <a:prstDash val="dash"/>
            <a:tailEnd type="triangle"/>
          </a:ln>
        </p:spPr>
      </p:sp>
      <p:sp>
        <p:nvSpPr>
          <p:cNvPr id="26" name="Shape 23"/>
          <p:cNvSpPr/>
          <p:nvPr/>
        </p:nvSpPr>
        <p:spPr>
          <a:xfrm flipV="1">
            <a:off x="5074920" y="2194560"/>
            <a:ext cx="0" cy="603504"/>
          </a:xfrm>
          <a:prstGeom prst="line">
            <a:avLst/>
          </a:prstGeom>
          <a:noFill/>
          <a:ln w="19050">
            <a:solidFill>
              <a:srgbClr val="8C8C8C"/>
            </a:solidFill>
            <a:prstDash val="dash"/>
            <a:tailEnd type="triangle"/>
          </a:ln>
        </p:spPr>
      </p:sp>
      <p:sp>
        <p:nvSpPr>
          <p:cNvPr id="27" name="Shape 24"/>
          <p:cNvSpPr/>
          <p:nvPr/>
        </p:nvSpPr>
        <p:spPr>
          <a:xfrm>
            <a:off x="6080760" y="2194560"/>
            <a:ext cx="73152" cy="73152"/>
          </a:xfrm>
          <a:prstGeom prst="ellipse">
            <a:avLst/>
          </a:prstGeom>
          <a:solidFill>
            <a:srgbClr val="9A9A9A"/>
          </a:solidFill>
          <a:ln w="6350">
            <a:solidFill>
              <a:srgbClr val="9A9A9A"/>
            </a:solidFill>
            <a:prstDash val="solid"/>
          </a:ln>
        </p:spPr>
      </p:sp>
      <p:sp>
        <p:nvSpPr>
          <p:cNvPr id="28" name="Text 25"/>
          <p:cNvSpPr/>
          <p:nvPr/>
        </p:nvSpPr>
        <p:spPr>
          <a:xfrm>
            <a:off x="6199632" y="2103120"/>
            <a:ext cx="457200" cy="146304"/>
          </a:xfrm>
          <a:prstGeom prst="rect">
            <a:avLst/>
          </a:prstGeom>
          <a:noFill/>
          <a:ln/>
        </p:spPr>
        <p:txBody>
          <a:bodyPr wrap="square" lIns="0" tIns="0" rIns="0" bIns="0" rtlCol="0" anchor="ctr"/>
          <a:lstStyle/>
          <a:p>
            <a:pPr indent="0" marL="0">
              <a:buNone/>
            </a:pPr>
            <a:r>
              <a:rPr lang="en-US" sz="750" dirty="0">
                <a:solidFill>
                  <a:srgbClr val="9A9A9A"/>
                </a:solidFill>
                <a:latin typeface="Calibri" pitchFamily="34" charset="0"/>
                <a:ea typeface="Calibri" pitchFamily="34" charset="-122"/>
                <a:cs typeface="Calibri" pitchFamily="34" charset="-120"/>
              </a:rPr>
              <a:t>best</a:t>
            </a:r>
            <a:endParaRPr lang="en-US" sz="750" dirty="0"/>
          </a:p>
        </p:txBody>
      </p:sp>
      <p:sp>
        <p:nvSpPr>
          <p:cNvPr id="29" name="Shape 26"/>
          <p:cNvSpPr/>
          <p:nvPr/>
        </p:nvSpPr>
        <p:spPr>
          <a:xfrm>
            <a:off x="5024628" y="2875788"/>
            <a:ext cx="100584" cy="100584"/>
          </a:xfrm>
          <a:prstGeom prst="ellipse">
            <a:avLst/>
          </a:prstGeom>
          <a:solidFill>
            <a:srgbClr val="CC0000"/>
          </a:solidFill>
          <a:ln w="6350">
            <a:solidFill>
              <a:srgbClr val="CC0000"/>
            </a:solidFill>
            <a:prstDash val="solid"/>
          </a:ln>
        </p:spPr>
      </p:sp>
      <p:sp>
        <p:nvSpPr>
          <p:cNvPr id="30" name="Text 27"/>
          <p:cNvSpPr/>
          <p:nvPr/>
        </p:nvSpPr>
        <p:spPr>
          <a:xfrm>
            <a:off x="4133088" y="2724912"/>
            <a:ext cx="777240" cy="146304"/>
          </a:xfrm>
          <a:prstGeom prst="rect">
            <a:avLst/>
          </a:prstGeom>
          <a:noFill/>
          <a:ln/>
        </p:spPr>
        <p:txBody>
          <a:bodyPr wrap="square" lIns="0" tIns="0" rIns="0" bIns="0" rtlCol="0" anchor="ctr"/>
          <a:lstStyle/>
          <a:p>
            <a:pPr algn="r" indent="0" marL="0">
              <a:buNone/>
            </a:pPr>
            <a:r>
              <a:rPr lang="en-US" sz="750" b="1" dirty="0">
                <a:solidFill>
                  <a:srgbClr val="CC0000"/>
                </a:solidFill>
                <a:latin typeface="Calibri" pitchFamily="34" charset="0"/>
                <a:ea typeface="Calibri" pitchFamily="34" charset="-122"/>
                <a:cs typeface="Calibri" pitchFamily="34" charset="-120"/>
              </a:rPr>
              <a:t>you are here</a:t>
            </a:r>
            <a:endParaRPr lang="en-US" sz="750" dirty="0"/>
          </a:p>
        </p:txBody>
      </p:sp>
      <p:sp>
        <p:nvSpPr>
          <p:cNvPr id="31" name="Text 28"/>
          <p:cNvSpPr/>
          <p:nvPr/>
        </p:nvSpPr>
        <p:spPr>
          <a:xfrm>
            <a:off x="5504688" y="2286000"/>
            <a:ext cx="274320" cy="256032"/>
          </a:xfrm>
          <a:prstGeom prst="rect">
            <a:avLst/>
          </a:prstGeom>
          <a:noFill/>
          <a:ln/>
        </p:spPr>
        <p:txBody>
          <a:bodyPr wrap="square" lIns="0" tIns="0" rIns="0" bIns="0" rtlCol="0" anchor="ctr"/>
          <a:lstStyle/>
          <a:p>
            <a:pPr algn="ctr" indent="0" marL="0">
              <a:buNone/>
            </a:pPr>
            <a:r>
              <a:rPr lang="en-US" sz="1600" b="1" dirty="0">
                <a:solidFill>
                  <a:srgbClr val="CC0000"/>
                </a:solidFill>
                <a:latin typeface="Cambria" pitchFamily="34" charset="0"/>
                <a:ea typeface="Cambria" pitchFamily="34" charset="-122"/>
                <a:cs typeface="Cambria" pitchFamily="34" charset="-120"/>
              </a:rPr>
              <a:t>?</a:t>
            </a:r>
            <a:endParaRPr lang="en-US" sz="1600" dirty="0"/>
          </a:p>
        </p:txBody>
      </p:sp>
      <p:sp>
        <p:nvSpPr>
          <p:cNvPr id="32" name="Shape 29"/>
          <p:cNvSpPr/>
          <p:nvPr/>
        </p:nvSpPr>
        <p:spPr>
          <a:xfrm>
            <a:off x="621792" y="3108960"/>
            <a:ext cx="7900416" cy="566928"/>
          </a:xfrm>
          <a:prstGeom prst="roundRect">
            <a:avLst>
              <a:gd name="adj" fmla="val 6452"/>
            </a:avLst>
          </a:prstGeom>
          <a:solidFill>
            <a:srgbClr val="FAFAFA"/>
          </a:solidFill>
          <a:ln w="12700">
            <a:solidFill>
              <a:srgbClr val="EAEAEA"/>
            </a:solidFill>
            <a:prstDash val="solid"/>
          </a:ln>
        </p:spPr>
      </p:sp>
      <p:sp>
        <p:nvSpPr>
          <p:cNvPr id="33" name="Text 30"/>
          <p:cNvSpPr/>
          <p:nvPr/>
        </p:nvSpPr>
        <p:spPr>
          <a:xfrm>
            <a:off x="768096" y="3163824"/>
            <a:ext cx="7607808" cy="182880"/>
          </a:xfrm>
          <a:prstGeom prst="rect">
            <a:avLst/>
          </a:prstGeom>
          <a:noFill/>
          <a:ln/>
        </p:spPr>
        <p:txBody>
          <a:bodyPr wrap="square" lIns="0" tIns="0" rIns="0" bIns="0" rtlCol="0" anchor="ctr"/>
          <a:lstStyle/>
          <a:p>
            <a:pPr indent="0" marL="0">
              <a:buNone/>
            </a:pPr>
            <a:r>
              <a:rPr lang="en-US" sz="950" b="1" dirty="0">
                <a:solidFill>
                  <a:srgbClr val="CC0000"/>
                </a:solidFill>
                <a:latin typeface="Calibri" pitchFamily="34" charset="0"/>
                <a:ea typeface="Calibri" pitchFamily="34" charset="-122"/>
                <a:cs typeface="Calibri" pitchFamily="34" charset="-120"/>
              </a:rPr>
              <a:t>Predict first:  </a:t>
            </a:r>
            <a:pPr indent="0" marL="0">
              <a:buNone/>
            </a:pPr>
            <a:r>
              <a:rPr lang="en-US" sz="950" dirty="0">
                <a:solidFill>
                  <a:srgbClr val="2E2E2E"/>
                </a:solidFill>
                <a:latin typeface="Calibri" pitchFamily="34" charset="0"/>
                <a:ea typeface="Calibri" pitchFamily="34" charset="-122"/>
                <a:cs typeface="Calibri" pitchFamily="34" charset="-120"/>
              </a:rPr>
              <a:t>which corner does the point move to, and which variable enters? </a:t>
            </a:r>
            <a:pPr indent="0" marL="0">
              <a:buNone/>
            </a:pPr>
            <a:r>
              <a:rPr lang="en-US" sz="950" i="1" dirty="0">
                <a:solidFill>
                  <a:srgbClr val="6E6E6E"/>
                </a:solidFill>
                <a:latin typeface="Calibri" pitchFamily="34" charset="0"/>
                <a:ea typeface="Calibri" pitchFamily="34" charset="-122"/>
                <a:cs typeface="Calibri" pitchFamily="34" charset="-120"/>
              </a:rPr>
              <a:t>The student commits before anything is revealed.</a:t>
            </a:r>
            <a:endParaRPr lang="en-US" sz="950" dirty="0"/>
          </a:p>
        </p:txBody>
      </p:sp>
      <p:sp>
        <p:nvSpPr>
          <p:cNvPr id="34" name="Text 31"/>
          <p:cNvSpPr/>
          <p:nvPr/>
        </p:nvSpPr>
        <p:spPr>
          <a:xfrm>
            <a:off x="768096" y="3383280"/>
            <a:ext cx="7607808" cy="182880"/>
          </a:xfrm>
          <a:prstGeom prst="rect">
            <a:avLst/>
          </a:prstGeom>
          <a:noFill/>
          <a:ln/>
        </p:spPr>
        <p:txBody>
          <a:bodyPr wrap="square" lIns="0" tIns="0" rIns="0" bIns="0" rtlCol="0" anchor="ctr"/>
          <a:lstStyle/>
          <a:p>
            <a:pPr indent="0" marL="0">
              <a:buNone/>
            </a:pPr>
            <a:r>
              <a:rPr lang="en-US" sz="950" b="1" dirty="0">
                <a:solidFill>
                  <a:srgbClr val="2E2E2E"/>
                </a:solidFill>
                <a:latin typeface="Calibri" pitchFamily="34" charset="0"/>
                <a:ea typeface="Calibri" pitchFamily="34" charset="-122"/>
                <a:cs typeface="Calibri" pitchFamily="34" charset="-120"/>
              </a:rPr>
              <a:t>Then ask anything:  </a:t>
            </a:r>
            <a:pPr indent="0" marL="0">
              <a:buNone/>
            </a:pPr>
            <a:r>
              <a:rPr lang="en-US" sz="950" i="1" dirty="0">
                <a:solidFill>
                  <a:srgbClr val="6E6E6E"/>
                </a:solidFill>
                <a:latin typeface="Calibri" pitchFamily="34" charset="0"/>
                <a:ea typeface="Calibri" pitchFamily="34" charset="-122"/>
                <a:cs typeface="Calibri" pitchFamily="34" charset="-120"/>
              </a:rPr>
              <a:t>"why did s2 leave and not s1?"   "show me the same step as a shadow price"   "explain it another way"</a:t>
            </a:r>
            <a:endParaRPr lang="en-US" sz="950" dirty="0"/>
          </a:p>
        </p:txBody>
      </p:sp>
      <p:sp>
        <p:nvSpPr>
          <p:cNvPr id="35" name="Text 32"/>
          <p:cNvSpPr/>
          <p:nvPr/>
        </p:nvSpPr>
        <p:spPr>
          <a:xfrm>
            <a:off x="457200" y="3950208"/>
            <a:ext cx="8229600" cy="201168"/>
          </a:xfrm>
          <a:prstGeom prst="rect">
            <a:avLst/>
          </a:prstGeom>
          <a:noFill/>
          <a:ln/>
        </p:spPr>
        <p:txBody>
          <a:bodyPr wrap="square" lIns="0" tIns="0" rIns="0" bIns="0" rtlCol="0" anchor="ctr"/>
          <a:lstStyle/>
          <a:p>
            <a:pPr indent="0" marL="0">
              <a:buNone/>
            </a:pPr>
            <a:r>
              <a:rPr lang="en-US" sz="1150" dirty="0">
                <a:solidFill>
                  <a:srgbClr val="2E2E2E"/>
                </a:solidFill>
                <a:latin typeface="Calibri" pitchFamily="34" charset="0"/>
                <a:ea typeface="Calibri" pitchFamily="34" charset="-122"/>
                <a:cs typeface="Calibri" pitchFamily="34" charset="-120"/>
              </a:rPr>
              <a:t>Every number on this screen is computed and certified by the solver </a:t>
            </a:r>
            <a:pPr indent="0" marL="0">
              <a:buNone/>
            </a:pPr>
            <a:r>
              <a:rPr lang="en-US" sz="1150" b="1" dirty="0">
                <a:solidFill>
                  <a:srgbClr val="CC0000"/>
                </a:solidFill>
                <a:latin typeface="Calibri" pitchFamily="34" charset="0"/>
                <a:ea typeface="Calibri" pitchFamily="34" charset="-122"/>
                <a:cs typeface="Calibri" pitchFamily="34" charset="-120"/>
              </a:rPr>
              <a:t>before the AI tutor is allowed to say a word.</a:t>
            </a:r>
            <a:endParaRPr lang="en-US" sz="1150" dirty="0"/>
          </a:p>
        </p:txBody>
      </p:sp>
      <p:sp>
        <p:nvSpPr>
          <p:cNvPr id="36" name="Text 33"/>
          <p:cNvSpPr/>
          <p:nvPr/>
        </p:nvSpPr>
        <p:spPr>
          <a:xfrm>
            <a:off x="457200" y="4242816"/>
            <a:ext cx="8229600" cy="475488"/>
          </a:xfrm>
          <a:prstGeom prst="rect">
            <a:avLst/>
          </a:prstGeom>
          <a:noFill/>
          <a:ln/>
        </p:spPr>
        <p:txBody>
          <a:bodyPr wrap="square" lIns="0" tIns="0" rIns="0" bIns="0" rtlCol="0" anchor="t"/>
          <a:lstStyle/>
          <a:p>
            <a:pPr indent="0" marL="0">
              <a:lnSpc>
                <a:spcPct val="115000"/>
              </a:lnSpc>
              <a:buNone/>
            </a:pPr>
            <a:r>
              <a:rPr lang="en-US" sz="1050" b="1" dirty="0">
                <a:solidFill>
                  <a:srgbClr val="2E2E2E"/>
                </a:solidFill>
                <a:latin typeface="Calibri" pitchFamily="34" charset="0"/>
                <a:ea typeface="Calibri" pitchFamily="34" charset="-122"/>
                <a:cs typeface="Calibri" pitchFamily="34" charset="-120"/>
              </a:rPr>
              <a:t>Where I am: </a:t>
            </a:r>
            <a:pPr indent="0" marL="0">
              <a:lnSpc>
                <a:spcPct val="115000"/>
              </a:lnSpc>
              <a:buNone/>
            </a:pPr>
            <a:r>
              <a:rPr lang="en-US" sz="1050" dirty="0">
                <a:solidFill>
                  <a:srgbClr val="2E2E2E"/>
                </a:solidFill>
                <a:latin typeface="Calibri" pitchFamily="34" charset="0"/>
                <a:ea typeface="Calibri" pitchFamily="34" charset="-122"/>
                <a:cs typeface="Calibri" pitchFamily="34" charset="-120"/>
              </a:rPr>
              <a:t>building the graphical LP and simplex module this summer, piloting with 45 students in IE 3311 this fall. </a:t>
            </a:r>
            <a:pPr indent="0" marL="0">
              <a:lnSpc>
                <a:spcPct val="115000"/>
              </a:lnSpc>
              <a:buNone/>
            </a:pPr>
            <a:r>
              <a:rPr lang="en-US" sz="1050" b="1" dirty="0">
                <a:solidFill>
                  <a:srgbClr val="2E2E2E"/>
                </a:solidFill>
                <a:latin typeface="Calibri" pitchFamily="34" charset="0"/>
                <a:ea typeface="Calibri" pitchFamily="34" charset="-122"/>
                <a:cs typeface="Calibri" pitchFamily="34" charset="-120"/>
              </a:rPr>
              <a:t>What I am measuring: </a:t>
            </a:r>
            <a:pPr indent="0" marL="0">
              <a:lnSpc>
                <a:spcPct val="115000"/>
              </a:lnSpc>
              <a:buNone/>
            </a:pPr>
            <a:r>
              <a:rPr lang="en-US" sz="1050" dirty="0">
                <a:solidFill>
                  <a:srgbClr val="2E2E2E"/>
                </a:solidFill>
                <a:latin typeface="Calibri" pitchFamily="34" charset="0"/>
                <a:ea typeface="Calibri" pitchFamily="34" charset="-122"/>
                <a:cs typeface="Calibri" pitchFamily="34" charset="-120"/>
              </a:rPr>
              <a:t>conceptual understanding separately from procedural skill, which is the part we usually cannot see.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Optimization in Plain Sight</dc:title>
  <dc:subject>PptxGenJS Presentation</dc:subject>
  <dc:creator>Hamidreza Validi</dc:creator>
  <cp:lastModifiedBy>Hamidreza Validi</cp:lastModifiedBy>
  <cp:revision>1</cp:revision>
  <dcterms:created xsi:type="dcterms:W3CDTF">2026-07-28T17:02:06Z</dcterms:created>
  <dcterms:modified xsi:type="dcterms:W3CDTF">2026-07-28T17:02:06Z</dcterms:modified>
</cp:coreProperties>
</file>